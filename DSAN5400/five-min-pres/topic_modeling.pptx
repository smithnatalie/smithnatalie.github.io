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embeddedFontLst>
    <p:embeddedFont>
      <p:font typeface="Source Code Pro"/>
      <p:regular r:id="rId17"/>
      <p:bold r:id="rId18"/>
      <p:italic r:id="rId19"/>
      <p:boldItalic r:id="rId20"/>
    </p:embeddedFont>
    <p:embeddedFont>
      <p:font typeface="Oswald"/>
      <p:regular r:id="rId21"/>
      <p:bold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SourceCodePro-boldItalic.fntdata"/><Relationship Id="rId11" Type="http://schemas.openxmlformats.org/officeDocument/2006/relationships/slide" Target="slides/slide6.xml"/><Relationship Id="rId22" Type="http://schemas.openxmlformats.org/officeDocument/2006/relationships/font" Target="fonts/Oswald-bold.fntdata"/><Relationship Id="rId10" Type="http://schemas.openxmlformats.org/officeDocument/2006/relationships/slide" Target="slides/slide5.xml"/><Relationship Id="rId21" Type="http://schemas.openxmlformats.org/officeDocument/2006/relationships/font" Target="fonts/Oswald-regular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SourceCodePro-regular.fntdata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SourceCodePro-italic.fntdata"/><Relationship Id="rId6" Type="http://schemas.openxmlformats.org/officeDocument/2006/relationships/slide" Target="slides/slide1.xml"/><Relationship Id="rId18" Type="http://schemas.openxmlformats.org/officeDocument/2006/relationships/font" Target="fonts/SourceCodePro-bold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" name="Google Shape;60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27bf6cdf52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27bf6cdf52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27bf6cdf52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27bf6cdf52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27bf6cdf52c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27bf6cdf52c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g27bf6cdf52c_0_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" name="Google Shape;84;g27bf6cdf52c_0_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g27bf6cdf52c_0_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" name="Google Shape;90;g27bf6cdf52c_0_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27bf6cdf52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27bf6cdf52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(step 2): as part of this process, can use the package nltk to filter out “stop words” or extremely common words - in english for example this </a:t>
            </a:r>
            <a:r>
              <a:rPr lang="en"/>
              <a:t>would</a:t>
            </a:r>
            <a:r>
              <a:rPr lang="en"/>
              <a:t> be words like “a”, “and”, “the”, and so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(step 3): here, each token or word is assigned a unique ID -&gt; when added to the Bag of Words, each word is assigned that ID and a </a:t>
            </a:r>
            <a:r>
              <a:rPr lang="en"/>
              <a:t>frequency</a:t>
            </a:r>
            <a:r>
              <a:rPr lang="en"/>
              <a:t> </a:t>
            </a:r>
            <a:endParaRPr/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SzPts val="1100"/>
              <a:buChar char="-"/>
            </a:pPr>
            <a:r>
              <a:rPr lang="en"/>
              <a:t>This allows you to filter out extremely low </a:t>
            </a:r>
            <a:r>
              <a:rPr lang="en"/>
              <a:t>frequency words, for example, keep the first 1000 words, etc. </a:t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g27bf6cdf52c_0_1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0" name="Google Shape;130;g27bf6cdf52c_0_1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27bf6cdf52c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27bf6cdf52c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27bf6cdf52c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27bf6cdf52c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g27c3fc6cfc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5" name="Google Shape;185;g27c3fc6cfc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rot="10800000">
            <a:off x="4226100" y="2933550"/>
            <a:ext cx="691800" cy="388500"/>
          </a:xfrm>
          <a:prstGeom prst="triangle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>
            <a:off x="-25" y="0"/>
            <a:ext cx="9144000" cy="31242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Font typeface="Oswald"/>
              <a:buNone/>
              <a:defRPr sz="3600"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/>
          <p:nvPr/>
        </p:nvSpPr>
        <p:spPr>
          <a:xfrm>
            <a:off x="0" y="1567350"/>
            <a:ext cx="9144000" cy="20088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" name="Google Shape;17;p3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None/>
              <a:defRPr sz="3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0" name="Google Shape;20;p4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1" name="Google Shape;21;p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5"/>
          <p:cNvCxnSpPr/>
          <p:nvPr/>
        </p:nvCxnSpPr>
        <p:spPr>
          <a:xfrm>
            <a:off x="429200" y="127557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26" name="Google Shape;26;p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" type="body"/>
          </p:nvPr>
        </p:nvSpPr>
        <p:spPr>
          <a:xfrm>
            <a:off x="3117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5"/>
          <p:cNvSpPr txBox="1"/>
          <p:nvPr>
            <p:ph idx="2" type="body"/>
          </p:nvPr>
        </p:nvSpPr>
        <p:spPr>
          <a:xfrm>
            <a:off x="4832400" y="1468825"/>
            <a:ext cx="39999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7"/>
          <p:cNvCxnSpPr/>
          <p:nvPr/>
        </p:nvCxnSpPr>
        <p:spPr>
          <a:xfrm>
            <a:off x="418675" y="1457787"/>
            <a:ext cx="6141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35" name="Google Shape;35;p7"/>
          <p:cNvSpPr txBox="1"/>
          <p:nvPr>
            <p:ph type="title"/>
          </p:nvPr>
        </p:nvSpPr>
        <p:spPr>
          <a:xfrm>
            <a:off x="311700" y="6318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6" name="Google Shape;36;p7"/>
          <p:cNvSpPr txBox="1"/>
          <p:nvPr>
            <p:ph idx="1" type="body"/>
          </p:nvPr>
        </p:nvSpPr>
        <p:spPr>
          <a:xfrm>
            <a:off x="311700" y="1618204"/>
            <a:ext cx="2808000" cy="295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7" name="Google Shape;37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8"/>
          <p:cNvSpPr txBox="1"/>
          <p:nvPr>
            <p:ph type="title"/>
          </p:nvPr>
        </p:nvSpPr>
        <p:spPr>
          <a:xfrm>
            <a:off x="490250" y="528900"/>
            <a:ext cx="5678100" cy="4085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400"/>
              <a:buNone/>
              <a:defRPr sz="5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0" name="Google Shape;40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1"/>
        </a:soli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9"/>
          <p:cNvSpPr/>
          <p:nvPr/>
        </p:nvSpPr>
        <p:spPr>
          <a:xfrm>
            <a:off x="4572000" y="17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3" name="Google Shape;43;p9"/>
          <p:cNvCxnSpPr/>
          <p:nvPr/>
        </p:nvCxnSpPr>
        <p:spPr>
          <a:xfrm>
            <a:off x="5029675" y="4495500"/>
            <a:ext cx="577200" cy="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44" name="Google Shape;44;p9"/>
          <p:cNvSpPr txBox="1"/>
          <p:nvPr>
            <p:ph type="title"/>
          </p:nvPr>
        </p:nvSpPr>
        <p:spPr>
          <a:xfrm>
            <a:off x="265500" y="1078750"/>
            <a:ext cx="4045200" cy="17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600"/>
              <a:buNone/>
              <a:defRPr sz="4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5" name="Google Shape;45;p9"/>
          <p:cNvSpPr txBox="1"/>
          <p:nvPr>
            <p:ph idx="1" type="subTitle"/>
          </p:nvPr>
        </p:nvSpPr>
        <p:spPr>
          <a:xfrm>
            <a:off x="265500" y="2921401"/>
            <a:ext cx="4045200" cy="134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900"/>
              <a:buNone/>
              <a:defRPr sz="19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6" name="Google Shape;46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Font typeface="Oswald"/>
              <a:buNone/>
              <a:defRPr sz="2100">
                <a:latin typeface="Oswald"/>
                <a:ea typeface="Oswald"/>
                <a:cs typeface="Oswald"/>
                <a:sym typeface="Oswald"/>
              </a:defRPr>
            </a:lvl1pPr>
          </a:lstStyle>
          <a:p/>
        </p:txBody>
      </p:sp>
      <p:sp>
        <p:nvSpPr>
          <p:cNvPr id="50" name="Google Shape;50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2" name="Google Shape;52;p11"/>
          <p:cNvCxnSpPr/>
          <p:nvPr/>
        </p:nvCxnSpPr>
        <p:spPr>
          <a:xfrm>
            <a:off x="413275" y="2988275"/>
            <a:ext cx="9105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lgDash"/>
            <a:round/>
            <a:headEnd len="sm" w="sm" type="none"/>
            <a:tailEnd len="sm" w="sm" type="none"/>
          </a:ln>
        </p:spPr>
      </p:cxnSp>
      <p:sp>
        <p:nvSpPr>
          <p:cNvPr id="53" name="Google Shape;53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4" name="Google Shape;54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odern-writer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Oswald"/>
              <a:buNone/>
              <a:defRPr sz="3000">
                <a:solidFill>
                  <a:schemeClr val="dk2"/>
                </a:solidFill>
                <a:latin typeface="Oswald"/>
                <a:ea typeface="Oswald"/>
                <a:cs typeface="Oswald"/>
                <a:sym typeface="Oswal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ource Code Pro"/>
              <a:buChar char="●"/>
              <a:defRPr sz="18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●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○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Source Code Pro"/>
              <a:buChar char="■"/>
              <a:defRPr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image" Target="../media/image1.png"/><Relationship Id="rId5" Type="http://schemas.openxmlformats.org/officeDocument/2006/relationships/image" Target="../media/image2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jpg"/><Relationship Id="rId4" Type="http://schemas.openxmlformats.org/officeDocument/2006/relationships/image" Target="../media/image3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4.png"/><Relationship Id="rId5" Type="http://schemas.openxmlformats.org/officeDocument/2006/relationships/hyperlink" Target="https://smithnatalie.github.io/index.html" TargetMode="Externa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hyperlink" Target="https://www.nltk.org/" TargetMode="External"/><Relationship Id="rId4" Type="http://schemas.openxmlformats.org/officeDocument/2006/relationships/hyperlink" Target="https://pypi.org/project/gensim/" TargetMode="External"/><Relationship Id="rId5" Type="http://schemas.openxmlformats.org/officeDocument/2006/relationships/hyperlink" Target="https://pyldavis.readthedocs.io/en/latest/readme.html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3"/>
          <p:cNvSpPr txBox="1"/>
          <p:nvPr>
            <p:ph type="ctrTitle"/>
          </p:nvPr>
        </p:nvSpPr>
        <p:spPr>
          <a:xfrm>
            <a:off x="411175" y="644300"/>
            <a:ext cx="8282400" cy="2109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Modeling</a:t>
            </a:r>
            <a:endParaRPr/>
          </a:p>
        </p:txBody>
      </p:sp>
      <p:sp>
        <p:nvSpPr>
          <p:cNvPr id="63" name="Google Shape;63;p13"/>
          <p:cNvSpPr txBox="1"/>
          <p:nvPr>
            <p:ph idx="1" type="subTitle"/>
          </p:nvPr>
        </p:nvSpPr>
        <p:spPr>
          <a:xfrm>
            <a:off x="411175" y="3398250"/>
            <a:ext cx="8282400" cy="126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Natalie Smith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topic modeling?</a:t>
            </a:r>
            <a:endParaRPr/>
          </a:p>
        </p:txBody>
      </p:sp>
      <p:sp>
        <p:nvSpPr>
          <p:cNvPr id="69" name="Google Shape;69;p14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5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topic modeling?</a:t>
            </a:r>
            <a:endParaRPr/>
          </a:p>
        </p:txBody>
      </p:sp>
      <p:sp>
        <p:nvSpPr>
          <p:cNvPr id="75" name="Google Shape;75;p15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of automatically extracting similar word groups and expressions into topics from a large set of text or documents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6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topic modeling?</a:t>
            </a:r>
            <a:endParaRPr/>
          </a:p>
        </p:txBody>
      </p:sp>
      <p:sp>
        <p:nvSpPr>
          <p:cNvPr id="81" name="Google Shape;81;p16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of automatically extracting similar word groups and expressions into topics from a large set of text or documents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Unsupervised learning technique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7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topic modeling?</a:t>
            </a:r>
            <a:endParaRPr/>
          </a:p>
        </p:txBody>
      </p:sp>
      <p:sp>
        <p:nvSpPr>
          <p:cNvPr id="87" name="Google Shape;87;p17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of automatically extracting similar word groups and expressions into topics from a large set of text or documents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Unsupervised learning technique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not require knowledge of topics beforehand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8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topic modeling?</a:t>
            </a:r>
            <a:endParaRPr/>
          </a:p>
        </p:txBody>
      </p:sp>
      <p:sp>
        <p:nvSpPr>
          <p:cNvPr id="93" name="Google Shape;93;p18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Process of automatically extracting similar word groups and expressions into topics from a large set of text or documents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Unsupervised learning technique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Does not require knowledge of topics beforehand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Differs from topic classification, which requires training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idx="4294967295" type="title"/>
          </p:nvPr>
        </p:nvSpPr>
        <p:spPr>
          <a:xfrm>
            <a:off x="311700" y="151875"/>
            <a:ext cx="8520600" cy="4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How does topic modeling work?</a:t>
            </a:r>
            <a:endParaRPr sz="2000"/>
          </a:p>
        </p:txBody>
      </p:sp>
      <p:grpSp>
        <p:nvGrpSpPr>
          <p:cNvPr id="99" name="Google Shape;99;p19"/>
          <p:cNvGrpSpPr/>
          <p:nvPr/>
        </p:nvGrpSpPr>
        <p:grpSpPr>
          <a:xfrm>
            <a:off x="2485275" y="751825"/>
            <a:ext cx="4173451" cy="691974"/>
            <a:chOff x="2485275" y="741400"/>
            <a:chExt cx="4173451" cy="691974"/>
          </a:xfrm>
        </p:grpSpPr>
        <p:pic>
          <p:nvPicPr>
            <p:cNvPr id="100" name="Google Shape;100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485275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1" name="Google Shape;101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3388462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2" name="Google Shape;102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4291639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3" name="Google Shape;103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105727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04" name="Google Shape;104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098003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5" name="Google Shape;105;p19"/>
          <p:cNvGrpSpPr/>
          <p:nvPr/>
        </p:nvGrpSpPr>
        <p:grpSpPr>
          <a:xfrm>
            <a:off x="494967" y="689185"/>
            <a:ext cx="1437920" cy="894704"/>
            <a:chOff x="418800" y="612975"/>
            <a:chExt cx="1591500" cy="950700"/>
          </a:xfrm>
        </p:grpSpPr>
        <p:sp>
          <p:nvSpPr>
            <p:cNvPr id="106" name="Google Shape;106;p19"/>
            <p:cNvSpPr txBox="1"/>
            <p:nvPr/>
          </p:nvSpPr>
          <p:spPr>
            <a:xfrm>
              <a:off x="418800" y="612975"/>
              <a:ext cx="1591500" cy="3783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Step 1:</a:t>
              </a:r>
              <a:endParaRPr b="1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07" name="Google Shape;107;p19"/>
            <p:cNvSpPr txBox="1"/>
            <p:nvPr/>
          </p:nvSpPr>
          <p:spPr>
            <a:xfrm>
              <a:off x="418800" y="991275"/>
              <a:ext cx="1591500" cy="572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Assemble documents</a:t>
              </a:r>
              <a:endPara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08" name="Google Shape;108;p19"/>
          <p:cNvGrpSpPr/>
          <p:nvPr/>
        </p:nvGrpSpPr>
        <p:grpSpPr>
          <a:xfrm>
            <a:off x="1085103" y="1951250"/>
            <a:ext cx="5420447" cy="691974"/>
            <a:chOff x="1085103" y="1951250"/>
            <a:chExt cx="5420447" cy="691974"/>
          </a:xfrm>
        </p:grpSpPr>
        <p:pic>
          <p:nvPicPr>
            <p:cNvPr id="109" name="Google Shape;109;p1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85103" y="195125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0" name="Google Shape;110;p19"/>
            <p:cNvSpPr/>
            <p:nvPr/>
          </p:nvSpPr>
          <p:spPr>
            <a:xfrm>
              <a:off x="1932875" y="2171538"/>
              <a:ext cx="656100" cy="2514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" name="Google Shape;111;p19"/>
            <p:cNvSpPr txBox="1"/>
            <p:nvPr/>
          </p:nvSpPr>
          <p:spPr>
            <a:xfrm>
              <a:off x="2903750" y="2038200"/>
              <a:ext cx="3601800" cy="533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>
                  <a:latin typeface="Source Code Pro"/>
                  <a:ea typeface="Source Code Pro"/>
                  <a:cs typeface="Source Code Pro"/>
                  <a:sym typeface="Source Code Pro"/>
                </a:rPr>
                <a:t>tokens = [water, flour, salt, sugar, bowl, …]</a:t>
              </a:r>
              <a:endParaRPr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12" name="Google Shape;112;p19"/>
          <p:cNvGrpSpPr/>
          <p:nvPr/>
        </p:nvGrpSpPr>
        <p:grpSpPr>
          <a:xfrm>
            <a:off x="6505558" y="1849862"/>
            <a:ext cx="2219665" cy="894704"/>
            <a:chOff x="418800" y="612975"/>
            <a:chExt cx="1591500" cy="950700"/>
          </a:xfrm>
        </p:grpSpPr>
        <p:sp>
          <p:nvSpPr>
            <p:cNvPr id="113" name="Google Shape;113;p19"/>
            <p:cNvSpPr txBox="1"/>
            <p:nvPr/>
          </p:nvSpPr>
          <p:spPr>
            <a:xfrm>
              <a:off x="418800" y="612975"/>
              <a:ext cx="1591500" cy="3783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Step 2:</a:t>
              </a:r>
              <a:endParaRPr b="1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14" name="Google Shape;114;p19"/>
            <p:cNvSpPr txBox="1"/>
            <p:nvPr/>
          </p:nvSpPr>
          <p:spPr>
            <a:xfrm>
              <a:off x="418800" y="991275"/>
              <a:ext cx="1591500" cy="572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Clean data and lemmatize words</a:t>
              </a:r>
              <a:endPara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15" name="Google Shape;115;p19"/>
          <p:cNvGrpSpPr/>
          <p:nvPr/>
        </p:nvGrpSpPr>
        <p:grpSpPr>
          <a:xfrm>
            <a:off x="3152075" y="3239175"/>
            <a:ext cx="1437900" cy="1437900"/>
            <a:chOff x="1932875" y="3010575"/>
            <a:chExt cx="1437900" cy="1437900"/>
          </a:xfrm>
        </p:grpSpPr>
        <p:pic>
          <p:nvPicPr>
            <p:cNvPr id="116" name="Google Shape;116;p1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932875" y="3010575"/>
              <a:ext cx="1437900" cy="143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7" name="Google Shape;117;p19"/>
            <p:cNvSpPr txBox="1"/>
            <p:nvPr/>
          </p:nvSpPr>
          <p:spPr>
            <a:xfrm rot="-1264854">
              <a:off x="2079324" y="3299373"/>
              <a:ext cx="881603" cy="294499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800">
                  <a:latin typeface="Source Code Pro"/>
                  <a:ea typeface="Source Code Pro"/>
                  <a:cs typeface="Source Code Pro"/>
                  <a:sym typeface="Source Code Pro"/>
                </a:rPr>
                <a:t>Dictionary</a:t>
              </a:r>
              <a:endParaRPr b="1" sz="800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18" name="Google Shape;118;p19"/>
          <p:cNvGrpSpPr/>
          <p:nvPr/>
        </p:nvGrpSpPr>
        <p:grpSpPr>
          <a:xfrm>
            <a:off x="4233450" y="3379275"/>
            <a:ext cx="1980300" cy="1131300"/>
            <a:chOff x="3014250" y="3150675"/>
            <a:chExt cx="1980300" cy="1131300"/>
          </a:xfrm>
        </p:grpSpPr>
        <p:sp>
          <p:nvSpPr>
            <p:cNvPr id="119" name="Google Shape;119;p19"/>
            <p:cNvSpPr txBox="1"/>
            <p:nvPr/>
          </p:nvSpPr>
          <p:spPr>
            <a:xfrm>
              <a:off x="3495450" y="3150675"/>
              <a:ext cx="1499100" cy="11313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latin typeface="Source Code Pro"/>
                  <a:ea typeface="Source Code Pro"/>
                  <a:cs typeface="Source Code Pro"/>
                  <a:sym typeface="Source Code Pro"/>
                </a:rPr>
                <a:t>Dictionary = {‘water’:0,‘flour’:1, ‘salt’:2, ‘sugar’:3,...} </a:t>
              </a:r>
              <a:endParaRPr sz="1000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20" name="Google Shape;120;p19"/>
            <p:cNvSpPr/>
            <p:nvPr/>
          </p:nvSpPr>
          <p:spPr>
            <a:xfrm>
              <a:off x="3014250" y="3446477"/>
              <a:ext cx="481200" cy="296100"/>
            </a:xfrm>
            <a:prstGeom prst="rightArrow">
              <a:avLst>
                <a:gd fmla="val 50000" name="adj1"/>
                <a:gd fmla="val 50000" name="adj2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1" name="Google Shape;121;p19"/>
          <p:cNvGrpSpPr/>
          <p:nvPr/>
        </p:nvGrpSpPr>
        <p:grpSpPr>
          <a:xfrm>
            <a:off x="5934950" y="2973175"/>
            <a:ext cx="2369050" cy="1703900"/>
            <a:chOff x="4715750" y="2744575"/>
            <a:chExt cx="2369050" cy="1703900"/>
          </a:xfrm>
        </p:grpSpPr>
        <p:pic>
          <p:nvPicPr>
            <p:cNvPr id="122" name="Google Shape;122;p19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5646900" y="3010575"/>
              <a:ext cx="1437900" cy="143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23" name="Google Shape;123;p19"/>
            <p:cNvSpPr txBox="1"/>
            <p:nvPr/>
          </p:nvSpPr>
          <p:spPr>
            <a:xfrm>
              <a:off x="5699050" y="3571800"/>
              <a:ext cx="724500" cy="461100"/>
            </a:xfrm>
            <a:prstGeom prst="rect">
              <a:avLst/>
            </a:prstGeom>
            <a:solidFill>
              <a:srgbClr val="DE730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latin typeface="Source Code Pro"/>
                  <a:ea typeface="Source Code Pro"/>
                  <a:cs typeface="Source Code Pro"/>
                  <a:sym typeface="Source Code Pro"/>
                </a:rPr>
                <a:t>BoW</a:t>
              </a:r>
              <a:endParaRPr b="1" sz="1900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24" name="Google Shape;124;p19"/>
            <p:cNvSpPr/>
            <p:nvPr/>
          </p:nvSpPr>
          <p:spPr>
            <a:xfrm>
              <a:off x="4715750" y="2744575"/>
              <a:ext cx="1056300" cy="461100"/>
            </a:xfrm>
            <a:prstGeom prst="uturnArrow">
              <a:avLst>
                <a:gd fmla="val 25000" name="adj1"/>
                <a:gd fmla="val 25000" name="adj2"/>
                <a:gd fmla="val 25000" name="adj3"/>
                <a:gd fmla="val 43750" name="adj4"/>
                <a:gd fmla="val 75000" name="adj5"/>
              </a:avLst>
            </a:prstGeom>
            <a:solidFill>
              <a:schemeClr val="dk2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25" name="Google Shape;125;p19"/>
          <p:cNvGrpSpPr/>
          <p:nvPr/>
        </p:nvGrpSpPr>
        <p:grpSpPr>
          <a:xfrm>
            <a:off x="431658" y="3377774"/>
            <a:ext cx="2219665" cy="894704"/>
            <a:chOff x="418800" y="612975"/>
            <a:chExt cx="1591500" cy="950700"/>
          </a:xfrm>
        </p:grpSpPr>
        <p:sp>
          <p:nvSpPr>
            <p:cNvPr id="126" name="Google Shape;126;p19"/>
            <p:cNvSpPr txBox="1"/>
            <p:nvPr/>
          </p:nvSpPr>
          <p:spPr>
            <a:xfrm>
              <a:off x="418800" y="612975"/>
              <a:ext cx="1591500" cy="3783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Step 3:</a:t>
              </a:r>
              <a:endParaRPr b="1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27" name="Google Shape;127;p19"/>
            <p:cNvSpPr txBox="1"/>
            <p:nvPr/>
          </p:nvSpPr>
          <p:spPr>
            <a:xfrm>
              <a:off x="418800" y="991275"/>
              <a:ext cx="1591500" cy="572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Create dictionary and Bag of Words (BoW)</a:t>
              </a:r>
              <a:endPara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20"/>
          <p:cNvSpPr txBox="1"/>
          <p:nvPr>
            <p:ph idx="4294967295" type="title"/>
          </p:nvPr>
        </p:nvSpPr>
        <p:spPr>
          <a:xfrm>
            <a:off x="311700" y="151875"/>
            <a:ext cx="8520600" cy="46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" sz="2000"/>
              <a:t>How does topic modeling work?</a:t>
            </a:r>
            <a:endParaRPr sz="2000"/>
          </a:p>
        </p:txBody>
      </p:sp>
      <p:grpSp>
        <p:nvGrpSpPr>
          <p:cNvPr id="133" name="Google Shape;133;p20"/>
          <p:cNvGrpSpPr/>
          <p:nvPr/>
        </p:nvGrpSpPr>
        <p:grpSpPr>
          <a:xfrm>
            <a:off x="3271325" y="878725"/>
            <a:ext cx="1437900" cy="1437900"/>
            <a:chOff x="2356925" y="726325"/>
            <a:chExt cx="1437900" cy="1437900"/>
          </a:xfrm>
        </p:grpSpPr>
        <p:pic>
          <p:nvPicPr>
            <p:cNvPr id="134" name="Google Shape;134;p2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356925" y="726325"/>
              <a:ext cx="1437900" cy="14379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5" name="Google Shape;135;p20"/>
            <p:cNvSpPr txBox="1"/>
            <p:nvPr/>
          </p:nvSpPr>
          <p:spPr>
            <a:xfrm>
              <a:off x="2374750" y="1214725"/>
              <a:ext cx="724500" cy="461100"/>
            </a:xfrm>
            <a:prstGeom prst="rect">
              <a:avLst/>
            </a:prstGeom>
            <a:solidFill>
              <a:srgbClr val="DE7301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900">
                  <a:latin typeface="Source Code Pro"/>
                  <a:ea typeface="Source Code Pro"/>
                  <a:cs typeface="Source Code Pro"/>
                  <a:sym typeface="Source Code Pro"/>
                </a:rPr>
                <a:t>BoW</a:t>
              </a:r>
              <a:endParaRPr b="1" sz="1900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36" name="Google Shape;136;p20"/>
          <p:cNvGrpSpPr/>
          <p:nvPr/>
        </p:nvGrpSpPr>
        <p:grpSpPr>
          <a:xfrm>
            <a:off x="4893075" y="794575"/>
            <a:ext cx="3140975" cy="488600"/>
            <a:chOff x="3978675" y="642175"/>
            <a:chExt cx="3140975" cy="488600"/>
          </a:xfrm>
        </p:grpSpPr>
        <p:cxnSp>
          <p:nvCxnSpPr>
            <p:cNvPr id="137" name="Google Shape;137;p20"/>
            <p:cNvCxnSpPr/>
            <p:nvPr/>
          </p:nvCxnSpPr>
          <p:spPr>
            <a:xfrm flipH="1" rot="10800000">
              <a:off x="3978675" y="921375"/>
              <a:ext cx="1410000" cy="2094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38" name="Google Shape;138;p20"/>
            <p:cNvSpPr txBox="1"/>
            <p:nvPr/>
          </p:nvSpPr>
          <p:spPr>
            <a:xfrm>
              <a:off x="5570150" y="642175"/>
              <a:ext cx="1549500" cy="4050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Source Code Pro"/>
                  <a:ea typeface="Source Code Pro"/>
                  <a:cs typeface="Source Code Pro"/>
                  <a:sym typeface="Source Code Pro"/>
                </a:rPr>
                <a:t>Topic 1</a:t>
              </a:r>
              <a:endParaRPr b="1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39" name="Google Shape;139;p20"/>
          <p:cNvGrpSpPr/>
          <p:nvPr/>
        </p:nvGrpSpPr>
        <p:grpSpPr>
          <a:xfrm>
            <a:off x="5011800" y="1283175"/>
            <a:ext cx="3104850" cy="405000"/>
            <a:chOff x="4097400" y="1130775"/>
            <a:chExt cx="3104850" cy="405000"/>
          </a:xfrm>
        </p:grpSpPr>
        <p:cxnSp>
          <p:nvCxnSpPr>
            <p:cNvPr id="140" name="Google Shape;140;p20"/>
            <p:cNvCxnSpPr/>
            <p:nvPr/>
          </p:nvCxnSpPr>
          <p:spPr>
            <a:xfrm flipH="1" rot="10800000">
              <a:off x="4097400" y="1298175"/>
              <a:ext cx="1403100" cy="420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1" name="Google Shape;141;p20"/>
            <p:cNvSpPr txBox="1"/>
            <p:nvPr/>
          </p:nvSpPr>
          <p:spPr>
            <a:xfrm>
              <a:off x="5652750" y="1130775"/>
              <a:ext cx="1549500" cy="4050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Source Code Pro"/>
                  <a:ea typeface="Source Code Pro"/>
                  <a:cs typeface="Source Code Pro"/>
                  <a:sym typeface="Source Code Pro"/>
                </a:rPr>
                <a:t>Topic 2</a:t>
              </a:r>
              <a:endParaRPr b="1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42" name="Google Shape;142;p20"/>
          <p:cNvGrpSpPr/>
          <p:nvPr/>
        </p:nvGrpSpPr>
        <p:grpSpPr>
          <a:xfrm>
            <a:off x="5011800" y="1771775"/>
            <a:ext cx="3022250" cy="405000"/>
            <a:chOff x="4097400" y="1619375"/>
            <a:chExt cx="3022250" cy="405000"/>
          </a:xfrm>
        </p:grpSpPr>
        <p:cxnSp>
          <p:nvCxnSpPr>
            <p:cNvPr id="143" name="Google Shape;143;p20"/>
            <p:cNvCxnSpPr/>
            <p:nvPr/>
          </p:nvCxnSpPr>
          <p:spPr>
            <a:xfrm>
              <a:off x="4097400" y="1648575"/>
              <a:ext cx="1319100" cy="687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4" name="Google Shape;144;p20"/>
            <p:cNvSpPr txBox="1"/>
            <p:nvPr/>
          </p:nvSpPr>
          <p:spPr>
            <a:xfrm>
              <a:off x="5570150" y="1619375"/>
              <a:ext cx="1549500" cy="4050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Source Code Pro"/>
                  <a:ea typeface="Source Code Pro"/>
                  <a:cs typeface="Source Code Pro"/>
                  <a:sym typeface="Source Code Pro"/>
                </a:rPr>
                <a:t>Topic 3</a:t>
              </a:r>
              <a:endParaRPr b="1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45" name="Google Shape;145;p20"/>
          <p:cNvGrpSpPr/>
          <p:nvPr/>
        </p:nvGrpSpPr>
        <p:grpSpPr>
          <a:xfrm>
            <a:off x="507858" y="1167974"/>
            <a:ext cx="2219665" cy="894704"/>
            <a:chOff x="418800" y="612975"/>
            <a:chExt cx="1591500" cy="950700"/>
          </a:xfrm>
        </p:grpSpPr>
        <p:sp>
          <p:nvSpPr>
            <p:cNvPr id="146" name="Google Shape;146;p20"/>
            <p:cNvSpPr txBox="1"/>
            <p:nvPr/>
          </p:nvSpPr>
          <p:spPr>
            <a:xfrm>
              <a:off x="418800" y="612975"/>
              <a:ext cx="1591500" cy="3783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Step 4:</a:t>
              </a:r>
              <a:endParaRPr b="1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47" name="Google Shape;147;p20"/>
            <p:cNvSpPr txBox="1"/>
            <p:nvPr/>
          </p:nvSpPr>
          <p:spPr>
            <a:xfrm>
              <a:off x="418800" y="991275"/>
              <a:ext cx="1591500" cy="572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A range of topics are built from the BoW</a:t>
              </a:r>
              <a:endPara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  <p:grpSp>
        <p:nvGrpSpPr>
          <p:cNvPr id="148" name="Google Shape;148;p20"/>
          <p:cNvGrpSpPr/>
          <p:nvPr/>
        </p:nvGrpSpPr>
        <p:grpSpPr>
          <a:xfrm>
            <a:off x="1189875" y="3723625"/>
            <a:ext cx="4173451" cy="691974"/>
            <a:chOff x="2485275" y="741400"/>
            <a:chExt cx="4173451" cy="691974"/>
          </a:xfrm>
        </p:grpSpPr>
        <p:pic>
          <p:nvPicPr>
            <p:cNvPr id="149" name="Google Shape;149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485275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0" name="Google Shape;150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3388462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1" name="Google Shape;151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4291639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2" name="Google Shape;152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5105727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2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6098003" y="741400"/>
              <a:ext cx="560723" cy="691974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54" name="Google Shape;154;p20"/>
          <p:cNvGrpSpPr/>
          <p:nvPr/>
        </p:nvGrpSpPr>
        <p:grpSpPr>
          <a:xfrm>
            <a:off x="2373424" y="2665375"/>
            <a:ext cx="3275001" cy="1058250"/>
            <a:chOff x="2373424" y="2665375"/>
            <a:chExt cx="3275001" cy="1058250"/>
          </a:xfrm>
        </p:grpSpPr>
        <p:sp>
          <p:nvSpPr>
            <p:cNvPr id="155" name="Google Shape;155;p20"/>
            <p:cNvSpPr txBox="1"/>
            <p:nvPr/>
          </p:nvSpPr>
          <p:spPr>
            <a:xfrm>
              <a:off x="4366825" y="2665375"/>
              <a:ext cx="1281600" cy="405000"/>
            </a:xfrm>
            <a:prstGeom prst="rect">
              <a:avLst/>
            </a:prstGeom>
            <a:solidFill>
              <a:srgbClr val="9FC5E8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Source Code Pro"/>
                  <a:ea typeface="Source Code Pro"/>
                  <a:cs typeface="Source Code Pro"/>
                  <a:sym typeface="Source Code Pro"/>
                </a:rPr>
                <a:t>Topic 3</a:t>
              </a:r>
              <a:endParaRPr b="1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56" name="Google Shape;156;p20"/>
            <p:cNvCxnSpPr>
              <a:stCxn id="150" idx="0"/>
            </p:cNvCxnSpPr>
            <p:nvPr/>
          </p:nvCxnSpPr>
          <p:spPr>
            <a:xfrm flipH="1" rot="10800000">
              <a:off x="2373424" y="3095725"/>
              <a:ext cx="2796300" cy="6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57" name="Google Shape;157;p20"/>
            <p:cNvCxnSpPr>
              <a:stCxn id="153" idx="0"/>
            </p:cNvCxnSpPr>
            <p:nvPr/>
          </p:nvCxnSpPr>
          <p:spPr>
            <a:xfrm flipH="1" rot="10800000">
              <a:off x="5082965" y="3095725"/>
              <a:ext cx="86700" cy="6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58" name="Google Shape;158;p20"/>
          <p:cNvGrpSpPr/>
          <p:nvPr/>
        </p:nvGrpSpPr>
        <p:grpSpPr>
          <a:xfrm>
            <a:off x="1189875" y="2690650"/>
            <a:ext cx="2900814" cy="1032975"/>
            <a:chOff x="1189875" y="2690650"/>
            <a:chExt cx="2900814" cy="1032975"/>
          </a:xfrm>
        </p:grpSpPr>
        <p:sp>
          <p:nvSpPr>
            <p:cNvPr id="159" name="Google Shape;159;p20"/>
            <p:cNvSpPr txBox="1"/>
            <p:nvPr/>
          </p:nvSpPr>
          <p:spPr>
            <a:xfrm>
              <a:off x="1189875" y="2690650"/>
              <a:ext cx="1281600" cy="405000"/>
            </a:xfrm>
            <a:prstGeom prst="rect">
              <a:avLst/>
            </a:prstGeom>
            <a:solidFill>
              <a:srgbClr val="93C47D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Source Code Pro"/>
                  <a:ea typeface="Source Code Pro"/>
                  <a:cs typeface="Source Code Pro"/>
                  <a:sym typeface="Source Code Pro"/>
                </a:rPr>
                <a:t>Topic 1</a:t>
              </a:r>
              <a:endParaRPr b="1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60" name="Google Shape;160;p20"/>
            <p:cNvCxnSpPr>
              <a:stCxn id="152" idx="0"/>
            </p:cNvCxnSpPr>
            <p:nvPr/>
          </p:nvCxnSpPr>
          <p:spPr>
            <a:xfrm rot="10800000">
              <a:off x="1901889" y="3095725"/>
              <a:ext cx="2188800" cy="6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1" name="Google Shape;161;p20"/>
            <p:cNvCxnSpPr>
              <a:stCxn id="150" idx="0"/>
            </p:cNvCxnSpPr>
            <p:nvPr/>
          </p:nvCxnSpPr>
          <p:spPr>
            <a:xfrm rot="10800000">
              <a:off x="1871224" y="3095725"/>
              <a:ext cx="502200" cy="6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2" name="Google Shape;162;p20"/>
          <p:cNvGrpSpPr/>
          <p:nvPr/>
        </p:nvGrpSpPr>
        <p:grpSpPr>
          <a:xfrm>
            <a:off x="1470236" y="2690650"/>
            <a:ext cx="2589714" cy="1032975"/>
            <a:chOff x="1470236" y="2690650"/>
            <a:chExt cx="2589714" cy="1032975"/>
          </a:xfrm>
        </p:grpSpPr>
        <p:sp>
          <p:nvSpPr>
            <p:cNvPr id="163" name="Google Shape;163;p20"/>
            <p:cNvSpPr txBox="1"/>
            <p:nvPr/>
          </p:nvSpPr>
          <p:spPr>
            <a:xfrm>
              <a:off x="2778350" y="2690650"/>
              <a:ext cx="1281600" cy="405000"/>
            </a:xfrm>
            <a:prstGeom prst="rect">
              <a:avLst/>
            </a:prstGeom>
            <a:solidFill>
              <a:srgbClr val="EA9999"/>
            </a:solidFill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>
                  <a:latin typeface="Source Code Pro"/>
                  <a:ea typeface="Source Code Pro"/>
                  <a:cs typeface="Source Code Pro"/>
                  <a:sym typeface="Source Code Pro"/>
                </a:rPr>
                <a:t>Topic 2</a:t>
              </a:r>
              <a:endParaRPr b="1"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cxnSp>
          <p:nvCxnSpPr>
            <p:cNvPr id="164" name="Google Shape;164;p20"/>
            <p:cNvCxnSpPr/>
            <p:nvPr/>
          </p:nvCxnSpPr>
          <p:spPr>
            <a:xfrm flipH="1" rot="10800000">
              <a:off x="3382551" y="3095725"/>
              <a:ext cx="73200" cy="6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65" name="Google Shape;165;p20"/>
            <p:cNvCxnSpPr>
              <a:stCxn id="149" idx="0"/>
            </p:cNvCxnSpPr>
            <p:nvPr/>
          </p:nvCxnSpPr>
          <p:spPr>
            <a:xfrm flipH="1" rot="10800000">
              <a:off x="1470236" y="3095725"/>
              <a:ext cx="1985400" cy="6279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</p:grpSp>
      <p:grpSp>
        <p:nvGrpSpPr>
          <p:cNvPr id="166" name="Google Shape;166;p20"/>
          <p:cNvGrpSpPr/>
          <p:nvPr/>
        </p:nvGrpSpPr>
        <p:grpSpPr>
          <a:xfrm>
            <a:off x="6153000" y="3130124"/>
            <a:ext cx="2219673" cy="1140340"/>
            <a:chOff x="418794" y="612975"/>
            <a:chExt cx="1591506" cy="1211710"/>
          </a:xfrm>
        </p:grpSpPr>
        <p:sp>
          <p:nvSpPr>
            <p:cNvPr id="167" name="Google Shape;167;p20"/>
            <p:cNvSpPr txBox="1"/>
            <p:nvPr/>
          </p:nvSpPr>
          <p:spPr>
            <a:xfrm>
              <a:off x="418800" y="612975"/>
              <a:ext cx="1591500" cy="378300"/>
            </a:xfrm>
            <a:prstGeom prst="rect">
              <a:avLst/>
            </a:pr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" sz="1200">
                  <a:solidFill>
                    <a:schemeClr val="lt1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Step 5:</a:t>
              </a:r>
              <a:endParaRPr b="1" sz="1200">
                <a:solidFill>
                  <a:schemeClr val="lt1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  <p:sp>
          <p:nvSpPr>
            <p:cNvPr id="168" name="Google Shape;168;p20"/>
            <p:cNvSpPr txBox="1"/>
            <p:nvPr/>
          </p:nvSpPr>
          <p:spPr>
            <a:xfrm>
              <a:off x="418794" y="991285"/>
              <a:ext cx="1591500" cy="833400"/>
            </a:xfrm>
            <a:prstGeom prst="rect">
              <a:avLst/>
            </a:prstGeom>
            <a:solidFill>
              <a:schemeClr val="lt1"/>
            </a:solidFill>
            <a:ln cap="flat" cmpd="sng" w="9525">
              <a:solidFill>
                <a:schemeClr val="dk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chemeClr val="dk2"/>
                  </a:solidFill>
                  <a:latin typeface="Source Code Pro"/>
                  <a:ea typeface="Source Code Pro"/>
                  <a:cs typeface="Source Code Pro"/>
                  <a:sym typeface="Source Code Pro"/>
                </a:rPr>
                <a:t>The words associated with each topic can be printed and visualized</a:t>
              </a:r>
              <a:endParaRPr sz="1200">
                <a:solidFill>
                  <a:schemeClr val="dk2"/>
                </a:solidFill>
                <a:latin typeface="Source Code Pro"/>
                <a:ea typeface="Source Code Pro"/>
                <a:cs typeface="Source Code Pro"/>
                <a:sym typeface="Source Code Pro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21"/>
          <p:cNvSpPr txBox="1"/>
          <p:nvPr>
            <p:ph type="title"/>
          </p:nvPr>
        </p:nvSpPr>
        <p:spPr>
          <a:xfrm>
            <a:off x="430800" y="1889700"/>
            <a:ext cx="8282400" cy="15165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how does this work in Python?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6700" y="1041925"/>
            <a:ext cx="4576701" cy="2673028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22"/>
          <p:cNvSpPr txBox="1"/>
          <p:nvPr>
            <p:ph idx="4294967295" type="title"/>
          </p:nvPr>
        </p:nvSpPr>
        <p:spPr>
          <a:xfrm>
            <a:off x="311700" y="16675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modeling using gensim and pyLDAvis</a:t>
            </a:r>
            <a:endParaRPr/>
          </a:p>
        </p:txBody>
      </p:sp>
      <p:pic>
        <p:nvPicPr>
          <p:cNvPr id="180" name="Google Shape;18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041916"/>
            <a:ext cx="4576699" cy="3303058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2"/>
          <p:cNvSpPr/>
          <p:nvPr/>
        </p:nvSpPr>
        <p:spPr>
          <a:xfrm>
            <a:off x="5384725" y="3856625"/>
            <a:ext cx="3234600" cy="1169700"/>
          </a:xfrm>
          <a:prstGeom prst="wedgeRectCallout">
            <a:avLst>
              <a:gd fmla="val -32547" name="adj1"/>
              <a:gd fmla="val -60460" name="adj2"/>
            </a:avLst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200"/>
              <a:t>LDA (Latent Dirichlet Allocation):</a:t>
            </a:r>
            <a:endParaRPr b="1"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Documents considered collections of topics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Topics considered </a:t>
            </a:r>
            <a:r>
              <a:rPr lang="en" sz="1200"/>
              <a:t>collections</a:t>
            </a:r>
            <a:r>
              <a:rPr lang="en" sz="1200"/>
              <a:t> of words</a:t>
            </a:r>
            <a:endParaRPr sz="1200"/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SzPts val="1200"/>
              <a:buChar char="●"/>
            </a:pPr>
            <a:r>
              <a:rPr lang="en" sz="1200"/>
              <a:t>Requires number of topics as input</a:t>
            </a:r>
            <a:endParaRPr sz="1200"/>
          </a:p>
        </p:txBody>
      </p:sp>
      <p:sp>
        <p:nvSpPr>
          <p:cNvPr id="182" name="Google Shape;182;p22"/>
          <p:cNvSpPr txBox="1"/>
          <p:nvPr/>
        </p:nvSpPr>
        <p:spPr>
          <a:xfrm>
            <a:off x="511150" y="4486800"/>
            <a:ext cx="3038700" cy="454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u="sng">
                <a:solidFill>
                  <a:schemeClr val="hlink"/>
                </a:solidFill>
                <a:latin typeface="Source Code Pro"/>
                <a:ea typeface="Source Code Pro"/>
                <a:cs typeface="Source Code Pro"/>
                <a:sym typeface="Source Code Pro"/>
                <a:hlinkClick r:id="rId5"/>
              </a:rPr>
              <a:t>My pyLDAvis Example</a:t>
            </a:r>
            <a:endParaRPr>
              <a:latin typeface="Source Code Pro"/>
              <a:ea typeface="Source Code Pro"/>
              <a:cs typeface="Source Code Pro"/>
              <a:sym typeface="Source Code Pr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000"/>
                                        <p:tgtEl>
                                          <p:spTgt spid="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23"/>
          <p:cNvSpPr txBox="1"/>
          <p:nvPr>
            <p:ph type="title"/>
          </p:nvPr>
        </p:nvSpPr>
        <p:spPr>
          <a:xfrm>
            <a:off x="311700" y="372500"/>
            <a:ext cx="8520600" cy="73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Topic modeling resources</a:t>
            </a:r>
            <a:endParaRPr/>
          </a:p>
        </p:txBody>
      </p:sp>
      <p:sp>
        <p:nvSpPr>
          <p:cNvPr id="188" name="Google Shape;188;p23"/>
          <p:cNvSpPr txBox="1"/>
          <p:nvPr>
            <p:ph idx="1" type="body"/>
          </p:nvPr>
        </p:nvSpPr>
        <p:spPr>
          <a:xfrm>
            <a:off x="311700" y="1468825"/>
            <a:ext cx="8520600" cy="309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3"/>
              </a:rPr>
              <a:t>NLTK 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4"/>
              </a:rPr>
              <a:t>Gensim documentation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 u="sng">
                <a:solidFill>
                  <a:schemeClr val="hlink"/>
                </a:solidFill>
                <a:hlinkClick r:id="rId5"/>
              </a:rPr>
              <a:t>pyLDAvis documentation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odern Writer">
  <a:themeElements>
    <a:clrScheme name="Modern Writer">
      <a:dk1>
        <a:srgbClr val="E91D63"/>
      </a:dk1>
      <a:lt1>
        <a:srgbClr val="FFFFFF"/>
      </a:lt1>
      <a:dk2>
        <a:srgbClr val="424242"/>
      </a:dk2>
      <a:lt2>
        <a:srgbClr val="999999"/>
      </a:lt2>
      <a:accent1>
        <a:srgbClr val="607D8B"/>
      </a:accent1>
      <a:accent2>
        <a:srgbClr val="673AB7"/>
      </a:accent2>
      <a:accent3>
        <a:srgbClr val="9C26B0"/>
      </a:accent3>
      <a:accent4>
        <a:srgbClr val="0090AC"/>
      </a:accent4>
      <a:accent5>
        <a:srgbClr val="00838F"/>
      </a:accent5>
      <a:accent6>
        <a:srgbClr val="F8E71C"/>
      </a:accent6>
      <a:hlink>
        <a:srgbClr val="00838F"/>
      </a:hlink>
      <a:folHlink>
        <a:srgbClr val="00838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